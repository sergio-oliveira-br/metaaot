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8" r:id="rId2"/>
    <p:sldId id="258" r:id="rId3"/>
    <p:sldId id="269" r:id="rId4"/>
    <p:sldId id="273" r:id="rId5"/>
    <p:sldId id="277" r:id="rId6"/>
    <p:sldId id="276" r:id="rId7"/>
    <p:sldId id="275" r:id="rId8"/>
    <p:sldId id="281" r:id="rId9"/>
    <p:sldId id="282" r:id="rId10"/>
    <p:sldId id="272" r:id="rId11"/>
    <p:sldId id="271" r:id="rId12"/>
    <p:sldId id="284" r:id="rId13"/>
    <p:sldId id="285" r:id="rId14"/>
    <p:sldId id="286" r:id="rId15"/>
  </p:sldIdLst>
  <p:sldSz cx="18288000" cy="10287000"/>
  <p:notesSz cx="6858000" cy="9144000"/>
  <p:embeddedFontLst>
    <p:embeddedFont>
      <p:font typeface="Times New Roman MT Condensed Italics" panose="02030506070405090303" pitchFamily="18" charset="77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23" autoAdjust="0"/>
    <p:restoredTop sz="94552" autoAdjust="0"/>
  </p:normalViewPr>
  <p:slideViewPr>
    <p:cSldViewPr>
      <p:cViewPr varScale="1">
        <p:scale>
          <a:sx n="70" d="100"/>
          <a:sy n="70" d="100"/>
        </p:scale>
        <p:origin x="232" y="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ergio-oliveira-063613163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youbtaouam/understanding-how-java-code-runs-interpreter-jit-and-aot-explained-414eafd09159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raalvm.org/why-graalvm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alvm.org/22.0/reference-manual/native-image/" TargetMode="External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raalvm.org/latest/reference-manual/native-image/metadata/AutomaticMetadataCollection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qba1p331pc.execute-api.eu-west-1.amazonaws.com/production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27796-25F9-5CCE-131D-5840C3C8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>
            <a:extLst>
              <a:ext uri="{FF2B5EF4-FFF2-40B4-BE49-F238E27FC236}">
                <a16:creationId xmlns:a16="http://schemas.microsoft.com/office/drawing/2014/main" id="{C6C24C63-DFD9-1B17-B02D-D0BD1761A794}"/>
              </a:ext>
            </a:extLst>
          </p:cNvPr>
          <p:cNvSpPr txBox="1"/>
          <p:nvPr/>
        </p:nvSpPr>
        <p:spPr>
          <a:xfrm>
            <a:off x="7080885" y="6257925"/>
            <a:ext cx="412623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spc="-336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Sérgio Oliveira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D4A7A6B-BDA6-89D4-A287-232B910CF124}"/>
              </a:ext>
            </a:extLst>
          </p:cNvPr>
          <p:cNvSpPr/>
          <p:nvPr/>
        </p:nvSpPr>
        <p:spPr>
          <a:xfrm>
            <a:off x="8747934" y="5372100"/>
            <a:ext cx="792133" cy="0"/>
          </a:xfrm>
          <a:prstGeom prst="line">
            <a:avLst/>
          </a:prstGeom>
          <a:ln w="38100" cap="rnd">
            <a:solidFill>
              <a:srgbClr val="C07A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17021D5-7824-808D-BEDB-59D4C0D05C9B}"/>
              </a:ext>
            </a:extLst>
          </p:cNvPr>
          <p:cNvSpPr txBox="1"/>
          <p:nvPr/>
        </p:nvSpPr>
        <p:spPr>
          <a:xfrm>
            <a:off x="3023369" y="7675406"/>
            <a:ext cx="12241257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spc="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National College of Ireland | MSc Cloud Computer | Aug 2026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14748EA3-A5A5-4264-534C-09F17C69A81C}"/>
              </a:ext>
            </a:extLst>
          </p:cNvPr>
          <p:cNvSpPr txBox="1"/>
          <p:nvPr/>
        </p:nvSpPr>
        <p:spPr>
          <a:xfrm>
            <a:off x="1733550" y="2084306"/>
            <a:ext cx="14820900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600" spc="-336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From POM to Binary: An Evidence-Based Assessment of GraalVM Native Image Readiness Using Maven Dependency Metadata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A66A086E-D56D-8BF2-E8C6-FFCF304081BD}"/>
              </a:ext>
            </a:extLst>
          </p:cNvPr>
          <p:cNvSpPr txBox="1"/>
          <p:nvPr/>
        </p:nvSpPr>
        <p:spPr>
          <a:xfrm>
            <a:off x="3023369" y="7132002"/>
            <a:ext cx="12241257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spc="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x23170981@student.ncirl.ie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F7ABD297-9375-3B42-FF73-A63818D8277E}"/>
              </a:ext>
            </a:extLst>
          </p:cNvPr>
          <p:cNvSpPr txBox="1"/>
          <p:nvPr/>
        </p:nvSpPr>
        <p:spPr>
          <a:xfrm>
            <a:off x="3023369" y="9441025"/>
            <a:ext cx="12241257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spc="48" dirty="0">
                <a:solidFill>
                  <a:schemeClr val="bg1">
                    <a:lumMod val="50000"/>
                  </a:scheme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Supervisor: Punit Gupta </a:t>
            </a:r>
          </a:p>
        </p:txBody>
      </p:sp>
    </p:spTree>
    <p:extLst>
      <p:ext uri="{BB962C8B-B14F-4D97-AF65-F5344CB8AC3E}">
        <p14:creationId xmlns:p14="http://schemas.microsoft.com/office/powerpoint/2010/main" val="420633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24230"/>
            <a:ext cx="4126231" cy="1220740"/>
            <a:chOff x="0" y="0"/>
            <a:chExt cx="5501641" cy="1627653"/>
          </a:xfrm>
        </p:grpSpPr>
        <p:sp>
          <p:nvSpPr>
            <p:cNvPr id="3" name="AutoShape 3"/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04775"/>
              <a:ext cx="5501641" cy="1024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Who I Am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65682" y="1047820"/>
            <a:ext cx="5393618" cy="21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99"/>
              </a:lnSpc>
              <a:spcBef>
                <a:spcPct val="0"/>
              </a:spcBef>
            </a:pPr>
            <a:r>
              <a:rPr lang="en-US" sz="1599" b="1" u="none" strike="noStrike" spc="31" dirty="0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Sérgio Oliveira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65682" y="1397635"/>
            <a:ext cx="5393618" cy="21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 dirty="0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BEng Manufacturing | MSc Cloud Computing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423" y="2933700"/>
            <a:ext cx="6191037" cy="253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Manufacturing Engineer transitioning into Software Engineering and Cloud Computing.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2838" y="6373391"/>
            <a:ext cx="7069397" cy="142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Passionate about continuous learning and driven to design scalable cloud solutions as a future Solutions Architect.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A3E49-9AAB-13CB-40BA-83F8A5BD1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263" y="1747450"/>
            <a:ext cx="6191037" cy="8138779"/>
          </a:xfrm>
          <a:prstGeom prst="round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578A105-0CEC-B97B-BB07-1E692ACD962F}"/>
              </a:ext>
            </a:extLst>
          </p:cNvPr>
          <p:cNvSpPr txBox="1"/>
          <p:nvPr/>
        </p:nvSpPr>
        <p:spPr>
          <a:xfrm>
            <a:off x="1022838" y="97200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https://www.linkedin.com/in/sergio-oliveira-063613163/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3B255-4473-DEBB-C056-B12A5517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02BFAE-46C4-3DA1-05ED-B522A57F8878}"/>
              </a:ext>
            </a:extLst>
          </p:cNvPr>
          <p:cNvGrpSpPr/>
          <p:nvPr/>
        </p:nvGrpSpPr>
        <p:grpSpPr>
          <a:xfrm>
            <a:off x="1028700" y="902811"/>
            <a:ext cx="14592300" cy="1123109"/>
            <a:chOff x="0" y="104775"/>
            <a:chExt cx="5501641" cy="1497478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403CFF9E-855F-F3B7-A9C2-DF570F364EEB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4CC8716-BF07-D34C-B308-1F5889C27D34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From Java Runtime to Native Executables</a:t>
              </a:r>
            </a:p>
          </p:txBody>
        </p:sp>
      </p:grpSp>
      <p:sp>
        <p:nvSpPr>
          <p:cNvPr id="6" name="TextBox 13">
            <a:extLst>
              <a:ext uri="{FF2B5EF4-FFF2-40B4-BE49-F238E27FC236}">
                <a16:creationId xmlns:a16="http://schemas.microsoft.com/office/drawing/2014/main" id="{474F1D57-5AB3-DA7C-CA20-DAA140BBD6E1}"/>
              </a:ext>
            </a:extLst>
          </p:cNvPr>
          <p:cNvSpPr txBox="1"/>
          <p:nvPr/>
        </p:nvSpPr>
        <p:spPr>
          <a:xfrm>
            <a:off x="1028700" y="2413193"/>
            <a:ext cx="6896100" cy="2531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JVM uses Just-In-Time compilation:</a:t>
            </a: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00B6AECE-55FE-0BEB-A0B9-76CA6865A861}"/>
              </a:ext>
            </a:extLst>
          </p:cNvPr>
          <p:cNvSpPr txBox="1"/>
          <p:nvPr/>
        </p:nvSpPr>
        <p:spPr>
          <a:xfrm>
            <a:off x="1023445" y="3847472"/>
            <a:ext cx="7129956" cy="1720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bytecode is executed by the JVM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runtime optimization occurs during execution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dynamic features are naturally supported</a:t>
            </a:r>
          </a:p>
          <a:p>
            <a:pPr algn="l">
              <a:lnSpc>
                <a:spcPts val="3359"/>
              </a:lnSpc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96372E56-41BD-87B9-1B13-15A6339A5220}"/>
              </a:ext>
            </a:extLst>
          </p:cNvPr>
          <p:cNvSpPr txBox="1"/>
          <p:nvPr/>
        </p:nvSpPr>
        <p:spPr>
          <a:xfrm>
            <a:off x="1023445" y="6134100"/>
            <a:ext cx="6896100" cy="2531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Native Image follows a different model:</a:t>
            </a: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6986C159-9E4C-7CF2-D6EC-E708E55727E2}"/>
              </a:ext>
            </a:extLst>
          </p:cNvPr>
          <p:cNvSpPr txBox="1"/>
          <p:nvPr/>
        </p:nvSpPr>
        <p:spPr>
          <a:xfrm>
            <a:off x="1023445" y="7568379"/>
            <a:ext cx="6438900" cy="1720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ahead-of-time compilation</a:t>
            </a:r>
          </a:p>
          <a:p>
            <a:pPr algn="l">
              <a:lnSpc>
                <a:spcPts val="3359"/>
              </a:lnSpc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closed-world assumption</a:t>
            </a:r>
          </a:p>
          <a:p>
            <a:pPr algn="l">
              <a:lnSpc>
                <a:spcPts val="3359"/>
              </a:lnSpc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static analysis before execution</a:t>
            </a:r>
          </a:p>
          <a:p>
            <a:pPr algn="l">
              <a:lnSpc>
                <a:spcPts val="3359"/>
              </a:lnSpc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4926A70-A020-A28D-7B08-807BC6C12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658" y="1564040"/>
            <a:ext cx="6896099" cy="8646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F95AFE-1427-914B-8DF3-7544EC0C8629}"/>
              </a:ext>
            </a:extLst>
          </p:cNvPr>
          <p:cNvSpPr txBox="1"/>
          <p:nvPr/>
        </p:nvSpPr>
        <p:spPr>
          <a:xfrm>
            <a:off x="936007" y="9384189"/>
            <a:ext cx="8055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https://medium.com/@ayoubtaouam/understanding-how-java-code-runs-interpreter-jit-and-aot-explained-414eafd09159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566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408D0-3A59-3CF1-D977-4A54C842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299344-3695-C30F-4129-336847934CF5}"/>
              </a:ext>
            </a:extLst>
          </p:cNvPr>
          <p:cNvGrpSpPr/>
          <p:nvPr/>
        </p:nvGrpSpPr>
        <p:grpSpPr>
          <a:xfrm>
            <a:off x="1028700" y="902811"/>
            <a:ext cx="8496300" cy="1123109"/>
            <a:chOff x="0" y="104775"/>
            <a:chExt cx="5501641" cy="1497478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01DC0649-332B-E788-9542-9589F473529C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EE1BDA-52ED-AE7E-4423-60286161D41B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Why Native Image?</a:t>
              </a:r>
            </a:p>
          </p:txBody>
        </p:sp>
      </p:grpSp>
      <p:sp>
        <p:nvSpPr>
          <p:cNvPr id="7" name="TextBox 13">
            <a:extLst>
              <a:ext uri="{FF2B5EF4-FFF2-40B4-BE49-F238E27FC236}">
                <a16:creationId xmlns:a16="http://schemas.microsoft.com/office/drawing/2014/main" id="{A65D1C72-A3A1-B9D5-5B87-681D89169A04}"/>
              </a:ext>
            </a:extLst>
          </p:cNvPr>
          <p:cNvSpPr txBox="1"/>
          <p:nvPr/>
        </p:nvSpPr>
        <p:spPr>
          <a:xfrm>
            <a:off x="1028700" y="2413193"/>
            <a:ext cx="6896100" cy="1249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Native Image enables:</a:t>
            </a: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AFCEE8ED-2EBE-F3AD-4374-35270327C0B7}"/>
              </a:ext>
            </a:extLst>
          </p:cNvPr>
          <p:cNvSpPr txBox="1"/>
          <p:nvPr/>
        </p:nvSpPr>
        <p:spPr>
          <a:xfrm>
            <a:off x="1785046" y="5850000"/>
            <a:ext cx="1335371" cy="608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Faster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87FE0F4A-62D4-014F-949F-F2C1A4B0C941}"/>
              </a:ext>
            </a:extLst>
          </p:cNvPr>
          <p:cNvSpPr txBox="1"/>
          <p:nvPr/>
        </p:nvSpPr>
        <p:spPr>
          <a:xfrm>
            <a:off x="1642060" y="6602400"/>
            <a:ext cx="1616413" cy="847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startup time</a:t>
            </a:r>
          </a:p>
          <a:p>
            <a:pPr algn="l">
              <a:lnSpc>
                <a:spcPts val="3359"/>
              </a:lnSpc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CE7E2626-AFA8-5318-EA99-C1C2C27B79E1}"/>
              </a:ext>
            </a:extLst>
          </p:cNvPr>
          <p:cNvSpPr txBox="1"/>
          <p:nvPr/>
        </p:nvSpPr>
        <p:spPr>
          <a:xfrm>
            <a:off x="10862947" y="5850000"/>
            <a:ext cx="1616413" cy="61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Smaller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A1B94DAE-2D10-FDC6-A0EC-62EB1FB674DB}"/>
              </a:ext>
            </a:extLst>
          </p:cNvPr>
          <p:cNvSpPr txBox="1"/>
          <p:nvPr/>
        </p:nvSpPr>
        <p:spPr>
          <a:xfrm>
            <a:off x="10356791" y="6602400"/>
            <a:ext cx="2628726" cy="41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deployment artifacts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E1B01AE2-DA79-CB2B-4615-0E7FEF70535D}"/>
              </a:ext>
            </a:extLst>
          </p:cNvPr>
          <p:cNvSpPr txBox="1"/>
          <p:nvPr/>
        </p:nvSpPr>
        <p:spPr>
          <a:xfrm>
            <a:off x="6348575" y="5850000"/>
            <a:ext cx="1335372" cy="61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Lower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0FC64209-FA51-C9C1-3068-8F6E71C7E4E6}"/>
              </a:ext>
            </a:extLst>
          </p:cNvPr>
          <p:cNvSpPr txBox="1"/>
          <p:nvPr/>
        </p:nvSpPr>
        <p:spPr>
          <a:xfrm>
            <a:off x="5854408" y="6602400"/>
            <a:ext cx="2291531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memory footprint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D198427-3995-A9E7-A2D0-9F8359950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855" y="4000988"/>
            <a:ext cx="2006600" cy="2006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D829B82-428D-3B24-4A9A-D25BD0803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867" y="4049974"/>
            <a:ext cx="1828800" cy="18288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DCE89C-4EDD-33BF-5D03-C3359028A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297" y="4436702"/>
            <a:ext cx="2696823" cy="13909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92E7761-EC1B-8D00-5D0E-ED74F050E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9549" y="4092835"/>
            <a:ext cx="1949251" cy="175432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E81F3FB-1675-A1DC-ABEF-DF31EF913DF4}"/>
              </a:ext>
            </a:extLst>
          </p:cNvPr>
          <p:cNvSpPr txBox="1"/>
          <p:nvPr/>
        </p:nvSpPr>
        <p:spPr>
          <a:xfrm>
            <a:off x="15394270" y="5850000"/>
            <a:ext cx="1363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Cloud</a:t>
            </a:r>
            <a:endParaRPr lang="en-US" dirty="0"/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D2BD3D1E-D568-B96F-63C7-6E22C64E2509}"/>
              </a:ext>
            </a:extLst>
          </p:cNvPr>
          <p:cNvSpPr txBox="1"/>
          <p:nvPr/>
        </p:nvSpPr>
        <p:spPr>
          <a:xfrm>
            <a:off x="15252168" y="6545706"/>
            <a:ext cx="168401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optimization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23A641-CBE7-8FDB-31B4-DB609263E5CD}"/>
              </a:ext>
            </a:extLst>
          </p:cNvPr>
          <p:cNvSpPr txBox="1"/>
          <p:nvPr/>
        </p:nvSpPr>
        <p:spPr>
          <a:xfrm>
            <a:off x="2776753" y="8627991"/>
            <a:ext cx="12734494" cy="1341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28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Native Image introduces a different deployment model optimized for specific scenarios.</a:t>
            </a: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97080-8FD2-7BEC-E2C1-BD156D4615BB}"/>
              </a:ext>
            </a:extLst>
          </p:cNvPr>
          <p:cNvSpPr txBox="1"/>
          <p:nvPr/>
        </p:nvSpPr>
        <p:spPr>
          <a:xfrm>
            <a:off x="1028153" y="97200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https://www.graalvm.org/why-graalvm/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207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25014-BA16-F1FB-01D4-9279AA13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DB6DB8-8956-2576-B4EA-738D72A64FA1}"/>
              </a:ext>
            </a:extLst>
          </p:cNvPr>
          <p:cNvGrpSpPr/>
          <p:nvPr/>
        </p:nvGrpSpPr>
        <p:grpSpPr>
          <a:xfrm>
            <a:off x="1028700" y="902811"/>
            <a:ext cx="8496300" cy="1123109"/>
            <a:chOff x="0" y="104775"/>
            <a:chExt cx="5501641" cy="1497478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48273F14-8BE3-BF88-6460-52267A782068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FFC3CDF-EB3F-4FA7-8951-41C345A765C8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Engineering Problem</a:t>
              </a:r>
            </a:p>
          </p:txBody>
        </p:sp>
      </p:grpSp>
      <p:sp>
        <p:nvSpPr>
          <p:cNvPr id="5" name="TextBox 13">
            <a:extLst>
              <a:ext uri="{FF2B5EF4-FFF2-40B4-BE49-F238E27FC236}">
                <a16:creationId xmlns:a16="http://schemas.microsoft.com/office/drawing/2014/main" id="{1D46711F-B0F4-10A6-5FFD-7028DAA712F2}"/>
              </a:ext>
            </a:extLst>
          </p:cNvPr>
          <p:cNvSpPr txBox="1"/>
          <p:nvPr/>
        </p:nvSpPr>
        <p:spPr>
          <a:xfrm>
            <a:off x="1028700" y="2413193"/>
            <a:ext cx="12230100" cy="60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Native Image Adoption Creates a New Migration Challenge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16E84AE7-4892-32A9-DF92-D48833297722}"/>
              </a:ext>
            </a:extLst>
          </p:cNvPr>
          <p:cNvSpPr txBox="1"/>
          <p:nvPr/>
        </p:nvSpPr>
        <p:spPr>
          <a:xfrm>
            <a:off x="1028700" y="3619500"/>
            <a:ext cx="7129956" cy="2155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challenge is not generating a binary.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challenge is understanding whether an existing dependency ecosystem is prepared before compilation.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53D1D26-8787-F505-E5A7-C7E3B36A35CC}"/>
              </a:ext>
            </a:extLst>
          </p:cNvPr>
          <p:cNvSpPr/>
          <p:nvPr/>
        </p:nvSpPr>
        <p:spPr>
          <a:xfrm>
            <a:off x="11487600" y="2983101"/>
            <a:ext cx="3982548" cy="3886302"/>
          </a:xfrm>
          <a:custGeom>
            <a:avLst/>
            <a:gdLst/>
            <a:ahLst/>
            <a:cxnLst/>
            <a:rect l="l" t="t" r="r" b="b"/>
            <a:pathLst>
              <a:path w="1395918" h="1339282">
                <a:moveTo>
                  <a:pt x="0" y="0"/>
                </a:moveTo>
                <a:lnTo>
                  <a:pt x="1395917" y="0"/>
                </a:lnTo>
                <a:lnTo>
                  <a:pt x="1395917" y="1339282"/>
                </a:lnTo>
                <a:lnTo>
                  <a:pt x="0" y="1339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839FE32D-2D01-012E-CED2-54F4EB4CED52}"/>
              </a:ext>
            </a:extLst>
          </p:cNvPr>
          <p:cNvSpPr txBox="1"/>
          <p:nvPr/>
        </p:nvSpPr>
        <p:spPr>
          <a:xfrm>
            <a:off x="1023620" y="6734033"/>
            <a:ext cx="7724891" cy="454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36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Large Maven ecosystem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29ED61F6-982A-0F01-C396-7FC36FEB8495}"/>
              </a:ext>
            </a:extLst>
          </p:cNvPr>
          <p:cNvSpPr txBox="1"/>
          <p:nvPr/>
        </p:nvSpPr>
        <p:spPr>
          <a:xfrm>
            <a:off x="11082982" y="7439311"/>
            <a:ext cx="4791784" cy="1263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0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 this ecosystem support Native Image?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4B54D763-F9E7-2732-FE50-5808FB8D23B2}"/>
              </a:ext>
            </a:extLst>
          </p:cNvPr>
          <p:cNvSpPr txBox="1"/>
          <p:nvPr/>
        </p:nvSpPr>
        <p:spPr>
          <a:xfrm>
            <a:off x="1023620" y="7411799"/>
            <a:ext cx="3700780" cy="1283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Spring Boot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Database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Logging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C002555C-E96F-7ECC-FAC4-2DC976DEC28E}"/>
              </a:ext>
            </a:extLst>
          </p:cNvPr>
          <p:cNvSpPr txBox="1"/>
          <p:nvPr/>
        </p:nvSpPr>
        <p:spPr>
          <a:xfrm>
            <a:off x="4593678" y="7412271"/>
            <a:ext cx="3700780" cy="1283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Security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JSON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Third-party libraries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F9ABAC-35AD-D37D-4431-2AB5A3316887}"/>
              </a:ext>
            </a:extLst>
          </p:cNvPr>
          <p:cNvSpPr txBox="1"/>
          <p:nvPr/>
        </p:nvSpPr>
        <p:spPr>
          <a:xfrm>
            <a:off x="1023620" y="97200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https://www.graalvm.org/22.0/reference-manual/native-image/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148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7B140-2ADE-38AC-08FD-04E65EC2C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DEF4E8-1FB0-503A-AAFE-8B2498CB0503}"/>
              </a:ext>
            </a:extLst>
          </p:cNvPr>
          <p:cNvGrpSpPr/>
          <p:nvPr/>
        </p:nvGrpSpPr>
        <p:grpSpPr>
          <a:xfrm>
            <a:off x="1028700" y="902811"/>
            <a:ext cx="8496300" cy="1123109"/>
            <a:chOff x="0" y="104775"/>
            <a:chExt cx="5501641" cy="1497478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7F35B015-EC95-73EB-3D6C-F1A5D9E4190A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BE4B8A6-7F2D-B3BD-7A07-4E7492DADE28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Current Practices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F082B1A-F16C-3886-D147-3EC7DD6E0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7260354"/>
            <a:ext cx="11049000" cy="2944829"/>
          </a:xfrm>
          <a:prstGeom prst="rect">
            <a:avLst/>
          </a:prstGeom>
        </p:spPr>
      </p:pic>
      <p:sp>
        <p:nvSpPr>
          <p:cNvPr id="21" name="TextBox 13">
            <a:extLst>
              <a:ext uri="{FF2B5EF4-FFF2-40B4-BE49-F238E27FC236}">
                <a16:creationId xmlns:a16="http://schemas.microsoft.com/office/drawing/2014/main" id="{6876DA97-BD5B-DD64-0FE2-720A69EFFC6A}"/>
              </a:ext>
            </a:extLst>
          </p:cNvPr>
          <p:cNvSpPr txBox="1"/>
          <p:nvPr/>
        </p:nvSpPr>
        <p:spPr>
          <a:xfrm>
            <a:off x="12870802" y="3135635"/>
            <a:ext cx="4049279" cy="189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Problems:</a:t>
            </a: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88EC9076-C3FB-9205-B17D-0084FEC60186}"/>
              </a:ext>
            </a:extLst>
          </p:cNvPr>
          <p:cNvSpPr txBox="1"/>
          <p:nvPr/>
        </p:nvSpPr>
        <p:spPr>
          <a:xfrm>
            <a:off x="12867692" y="3859559"/>
            <a:ext cx="5420308" cy="1283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Expensive compilation cycles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Late discovery of incompatibilities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Difficult diagnosis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62AAD56-7EBB-AD97-9710-81D372139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238" y="3322075"/>
            <a:ext cx="10238839" cy="2084553"/>
          </a:xfrm>
          <a:prstGeom prst="rect">
            <a:avLst/>
          </a:prstGeom>
        </p:spPr>
      </p:pic>
      <p:sp>
        <p:nvSpPr>
          <p:cNvPr id="25" name="TextBox 13">
            <a:extLst>
              <a:ext uri="{FF2B5EF4-FFF2-40B4-BE49-F238E27FC236}">
                <a16:creationId xmlns:a16="http://schemas.microsoft.com/office/drawing/2014/main" id="{0D274B34-1CF9-E80B-7E7C-2CD3A257FB59}"/>
              </a:ext>
            </a:extLst>
          </p:cNvPr>
          <p:cNvSpPr txBox="1"/>
          <p:nvPr/>
        </p:nvSpPr>
        <p:spPr>
          <a:xfrm>
            <a:off x="12867692" y="7767604"/>
            <a:ext cx="2218766" cy="1249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72AA0E14-C782-90EA-53EA-22C673273062}"/>
              </a:ext>
            </a:extLst>
          </p:cNvPr>
          <p:cNvSpPr txBox="1"/>
          <p:nvPr/>
        </p:nvSpPr>
        <p:spPr>
          <a:xfrm>
            <a:off x="12867692" y="7750355"/>
            <a:ext cx="5420308" cy="1719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Runtime execution required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Depends on execution coverage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Configuration generated after implementation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F3646B77-35FE-FD93-6AC5-66E7424A45A9}"/>
              </a:ext>
            </a:extLst>
          </p:cNvPr>
          <p:cNvSpPr txBox="1"/>
          <p:nvPr/>
        </p:nvSpPr>
        <p:spPr>
          <a:xfrm>
            <a:off x="12887908" y="6922251"/>
            <a:ext cx="4049279" cy="189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Limitations:</a:t>
            </a: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ABF0420E-E237-CA37-3DE1-05E81A474B7A}"/>
              </a:ext>
            </a:extLst>
          </p:cNvPr>
          <p:cNvSpPr txBox="1"/>
          <p:nvPr/>
        </p:nvSpPr>
        <p:spPr>
          <a:xfrm>
            <a:off x="1028700" y="6569927"/>
            <a:ext cx="6896100" cy="60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Native Image Tracing Agent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562588F0-C69E-AC7B-F57B-F4AD8A151133}"/>
              </a:ext>
            </a:extLst>
          </p:cNvPr>
          <p:cNvSpPr txBox="1"/>
          <p:nvPr/>
        </p:nvSpPr>
        <p:spPr>
          <a:xfrm>
            <a:off x="1001806" y="2506566"/>
            <a:ext cx="6896100" cy="60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Compile Directly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3F452F-F28B-77A9-A96F-69BD7B071C92}"/>
              </a:ext>
            </a:extLst>
          </p:cNvPr>
          <p:cNvSpPr txBox="1"/>
          <p:nvPr/>
        </p:nvSpPr>
        <p:spPr>
          <a:xfrm>
            <a:off x="1001806" y="9720000"/>
            <a:ext cx="15830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https://www.graalvm.org/latest/reference-manual/native-image/metadata/AutomaticMetadataCollection/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73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26A4F-D71A-2AFA-8F85-47C00B8C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0DC416A-8A32-2B0C-CD04-0242CFFCA1BE}"/>
              </a:ext>
            </a:extLst>
          </p:cNvPr>
          <p:cNvGrpSpPr/>
          <p:nvPr/>
        </p:nvGrpSpPr>
        <p:grpSpPr>
          <a:xfrm>
            <a:off x="1028700" y="902811"/>
            <a:ext cx="13144500" cy="1454885"/>
            <a:chOff x="0" y="104775"/>
            <a:chExt cx="5501641" cy="1939846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BCC2F58D-DC27-7088-7F60-230501E59F32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6825516-09D9-101C-8DDC-057FE23391F4}"/>
                </a:ext>
              </a:extLst>
            </p:cNvPr>
            <p:cNvSpPr txBox="1"/>
            <p:nvPr/>
          </p:nvSpPr>
          <p:spPr>
            <a:xfrm>
              <a:off x="0" y="104775"/>
              <a:ext cx="5501641" cy="1939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Contribution based Shift-Left Opportunity</a:t>
              </a:r>
            </a:p>
          </p:txBody>
        </p:sp>
      </p:grpSp>
      <p:sp>
        <p:nvSpPr>
          <p:cNvPr id="5" name="TextBox 13">
            <a:extLst>
              <a:ext uri="{FF2B5EF4-FFF2-40B4-BE49-F238E27FC236}">
                <a16:creationId xmlns:a16="http://schemas.microsoft.com/office/drawing/2014/main" id="{D6817AC2-6DB1-7E05-13D0-84802CEFBFA6}"/>
              </a:ext>
            </a:extLst>
          </p:cNvPr>
          <p:cNvSpPr txBox="1"/>
          <p:nvPr/>
        </p:nvSpPr>
        <p:spPr>
          <a:xfrm>
            <a:off x="1028700" y="2413193"/>
            <a:ext cx="12230100" cy="60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 Dependency Analysis Provide Earlier Signals?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298D6BB9-8A8D-7890-93DE-D7206AAF558B}"/>
              </a:ext>
            </a:extLst>
          </p:cNvPr>
          <p:cNvSpPr txBox="1"/>
          <p:nvPr/>
        </p:nvSpPr>
        <p:spPr>
          <a:xfrm>
            <a:off x="1028700" y="3233080"/>
            <a:ext cx="8115300" cy="1283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Software Composition Analysis already provides visibility into dependency ecosystems.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71A88DF3-44A6-A094-7061-DBE91FDA31C5}"/>
              </a:ext>
            </a:extLst>
          </p:cNvPr>
          <p:cNvSpPr txBox="1"/>
          <p:nvPr/>
        </p:nvSpPr>
        <p:spPr>
          <a:xfrm>
            <a:off x="1040423" y="5164015"/>
            <a:ext cx="7886700" cy="60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work introduces a new perspective: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FFD7D60F-C756-BDBF-D117-6E546ECB0A32}"/>
              </a:ext>
            </a:extLst>
          </p:cNvPr>
          <p:cNvSpPr txBox="1"/>
          <p:nvPr/>
        </p:nvSpPr>
        <p:spPr>
          <a:xfrm>
            <a:off x="1028700" y="6149066"/>
            <a:ext cx="8496300" cy="2155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Native Image readiness can be investigated through structural evidence available in dependency metadata.</a:t>
            </a:r>
          </a:p>
          <a:p>
            <a:pPr algn="l">
              <a:lnSpc>
                <a:spcPts val="3359"/>
              </a:lnSpc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Available Native Image metadata evidence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Missing evidence signals</a:t>
            </a:r>
          </a:p>
        </p:txBody>
      </p:sp>
    </p:spTree>
    <p:extLst>
      <p:ext uri="{BB962C8B-B14F-4D97-AF65-F5344CB8AC3E}">
        <p14:creationId xmlns:p14="http://schemas.microsoft.com/office/powerpoint/2010/main" val="282182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C0516-A4DD-3B0C-0FA1-FBCEFB8C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1FBDF2-445C-FAFE-9CF9-35EF37FDE209}"/>
              </a:ext>
            </a:extLst>
          </p:cNvPr>
          <p:cNvGrpSpPr/>
          <p:nvPr/>
        </p:nvGrpSpPr>
        <p:grpSpPr>
          <a:xfrm>
            <a:off x="1028700" y="902811"/>
            <a:ext cx="8496300" cy="1123109"/>
            <a:chOff x="0" y="104775"/>
            <a:chExt cx="5501641" cy="1497478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2C3DEF55-2BD9-34D8-64BC-BEFCD1136669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9EAB726-ADB9-8C98-4626-D7A8DD2CD149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Research Question</a:t>
              </a:r>
            </a:p>
          </p:txBody>
        </p:sp>
      </p:grpSp>
      <p:sp>
        <p:nvSpPr>
          <p:cNvPr id="5" name="TextBox 13">
            <a:extLst>
              <a:ext uri="{FF2B5EF4-FFF2-40B4-BE49-F238E27FC236}">
                <a16:creationId xmlns:a16="http://schemas.microsoft.com/office/drawing/2014/main" id="{E0970E4D-6FB4-2BAB-C9D8-7F4244E461F5}"/>
              </a:ext>
            </a:extLst>
          </p:cNvPr>
          <p:cNvSpPr txBox="1"/>
          <p:nvPr/>
        </p:nvSpPr>
        <p:spPr>
          <a:xfrm>
            <a:off x="1028700" y="2413193"/>
            <a:ext cx="12230100" cy="189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what extent can structural metadata signals</a:t>
            </a:r>
          </a:p>
          <a:p>
            <a:pPr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Maven dependency graphs provide early evidence</a:t>
            </a:r>
          </a:p>
          <a:p>
            <a:pPr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GraalVM Native Image readiness?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CFCFB9-3C22-1E8C-8A74-EDFF2819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50" y="5983162"/>
            <a:ext cx="17262900" cy="289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21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31DF6-3080-13FB-84EB-BB821731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87759B-C0BF-CBFE-0594-D4000D8D63C2}"/>
              </a:ext>
            </a:extLst>
          </p:cNvPr>
          <p:cNvGrpSpPr/>
          <p:nvPr/>
        </p:nvGrpSpPr>
        <p:grpSpPr>
          <a:xfrm>
            <a:off x="1028700" y="902811"/>
            <a:ext cx="8496300" cy="1123109"/>
            <a:chOff x="0" y="104775"/>
            <a:chExt cx="5501641" cy="1497478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0E922640-2094-9CB7-4EB3-3E44456E4D1D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B2B352-357A-2D6B-9DFB-EA7934DB2779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Framework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9BB1E6A-3F4D-FD77-7FCB-00483B797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399" y="1028700"/>
            <a:ext cx="10896601" cy="9906000"/>
          </a:xfrm>
          <a:prstGeom prst="rect">
            <a:avLst/>
          </a:prstGeom>
        </p:spPr>
      </p:pic>
      <p:sp>
        <p:nvSpPr>
          <p:cNvPr id="11" name="TextBox 13">
            <a:extLst>
              <a:ext uri="{FF2B5EF4-FFF2-40B4-BE49-F238E27FC236}">
                <a16:creationId xmlns:a16="http://schemas.microsoft.com/office/drawing/2014/main" id="{34F8370A-6A57-611B-C1B8-9BC2132E7B32}"/>
              </a:ext>
            </a:extLst>
          </p:cNvPr>
          <p:cNvSpPr txBox="1"/>
          <p:nvPr/>
        </p:nvSpPr>
        <p:spPr>
          <a:xfrm>
            <a:off x="1028700" y="2413193"/>
            <a:ext cx="6362699" cy="2531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investigate this research question, an evidence-based analysis framework was developed.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36D9F-8167-A01E-618A-AD5FCDED3BEA}"/>
              </a:ext>
            </a:extLst>
          </p:cNvPr>
          <p:cNvSpPr txBox="1"/>
          <p:nvPr/>
        </p:nvSpPr>
        <p:spPr>
          <a:xfrm>
            <a:off x="1001806" y="9720000"/>
            <a:ext cx="15830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https://qba1p331pc.execute-api.eu-west-1.amazonaws.com/production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0779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3CE35-4F13-6BA3-23B4-C95692D5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1730364-29FD-475E-4393-09BC2E7CF7D8}"/>
              </a:ext>
            </a:extLst>
          </p:cNvPr>
          <p:cNvGrpSpPr/>
          <p:nvPr/>
        </p:nvGrpSpPr>
        <p:grpSpPr>
          <a:xfrm>
            <a:off x="1028700" y="902811"/>
            <a:ext cx="8496300" cy="1123109"/>
            <a:chOff x="0" y="104775"/>
            <a:chExt cx="5501641" cy="1497478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20F825A0-B9FD-FD47-0D77-346AFA802B5E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8718D3-29DA-4AB3-B1B0-D9DE8FBDF6C3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Case Studies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D62E4A4-AB88-0505-C90F-7A887B4F2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723900"/>
            <a:ext cx="11694015" cy="6094063"/>
          </a:xfrm>
          <a:prstGeom prst="rect">
            <a:avLst/>
          </a:prstGeom>
        </p:spPr>
      </p:pic>
      <p:sp>
        <p:nvSpPr>
          <p:cNvPr id="12" name="TextBox 13">
            <a:extLst>
              <a:ext uri="{FF2B5EF4-FFF2-40B4-BE49-F238E27FC236}">
                <a16:creationId xmlns:a16="http://schemas.microsoft.com/office/drawing/2014/main" id="{270356BD-AFC0-C286-F553-C3E2C0EA6B45}"/>
              </a:ext>
            </a:extLst>
          </p:cNvPr>
          <p:cNvSpPr txBox="1"/>
          <p:nvPr/>
        </p:nvSpPr>
        <p:spPr>
          <a:xfrm>
            <a:off x="1028701" y="2413193"/>
            <a:ext cx="5448300" cy="3814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framework was evaluated through four controlled case studies representing different dependency ecosystem scenarios.</a:t>
            </a:r>
          </a:p>
        </p:txBody>
      </p:sp>
    </p:spTree>
    <p:extLst>
      <p:ext uri="{BB962C8B-B14F-4D97-AF65-F5344CB8AC3E}">
        <p14:creationId xmlns:p14="http://schemas.microsoft.com/office/powerpoint/2010/main" val="3660620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085C4-8705-A9FC-7907-CFE42EA5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7CC54686-679B-064A-0CFE-15D40D6B59D1}"/>
              </a:ext>
            </a:extLst>
          </p:cNvPr>
          <p:cNvGrpSpPr/>
          <p:nvPr/>
        </p:nvGrpSpPr>
        <p:grpSpPr>
          <a:xfrm>
            <a:off x="1028700" y="902811"/>
            <a:ext cx="8496300" cy="1123109"/>
            <a:chOff x="0" y="104775"/>
            <a:chExt cx="5501641" cy="1497478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447C63D2-EC34-881B-5BCE-414E737D3751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09B5A4F9-0017-0C78-51A0-B16C39E76A2D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Results</a:t>
              </a:r>
            </a:p>
          </p:txBody>
        </p:sp>
      </p:grpSp>
      <p:sp>
        <p:nvSpPr>
          <p:cNvPr id="2" name="TextBox 13">
            <a:extLst>
              <a:ext uri="{FF2B5EF4-FFF2-40B4-BE49-F238E27FC236}">
                <a16:creationId xmlns:a16="http://schemas.microsoft.com/office/drawing/2014/main" id="{01F928CA-5294-3E00-DB1D-894BA3AB4D20}"/>
              </a:ext>
            </a:extLst>
          </p:cNvPr>
          <p:cNvSpPr txBox="1"/>
          <p:nvPr/>
        </p:nvSpPr>
        <p:spPr>
          <a:xfrm>
            <a:off x="1028700" y="2413193"/>
            <a:ext cx="12230100" cy="60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Framework successfully identified: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88805540-A377-499F-BBCA-56CAFE65F988}"/>
              </a:ext>
            </a:extLst>
          </p:cNvPr>
          <p:cNvSpPr txBox="1"/>
          <p:nvPr/>
        </p:nvSpPr>
        <p:spPr>
          <a:xfrm>
            <a:off x="1028700" y="3233080"/>
            <a:ext cx="8115300" cy="1283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Supported components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Missing evidence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Indirect evidence</a:t>
            </a:r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144B6D06-3D92-97AF-EBBE-E2717881F5AF}"/>
              </a:ext>
            </a:extLst>
          </p:cNvPr>
          <p:cNvSpPr txBox="1"/>
          <p:nvPr/>
        </p:nvSpPr>
        <p:spPr>
          <a:xfrm>
            <a:off x="993283" y="4987545"/>
            <a:ext cx="12230100" cy="1249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framework does not replace Native Image compilation.</a:t>
            </a:r>
          </a:p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provides earlier structural visibility.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10F7A559-64D0-C7FE-F551-84D68C18E87A}"/>
              </a:ext>
            </a:extLst>
          </p:cNvPr>
          <p:cNvSpPr txBox="1"/>
          <p:nvPr/>
        </p:nvSpPr>
        <p:spPr>
          <a:xfrm>
            <a:off x="993283" y="7478645"/>
            <a:ext cx="8115300" cy="1283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Does not analyze application reachability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Does not reproduce GraalVM analysis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Evidence availability depends on ecosystem metadata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C0CAE2F5-1264-B6C8-2F00-27117EECE623}"/>
              </a:ext>
            </a:extLst>
          </p:cNvPr>
          <p:cNvSpPr txBox="1"/>
          <p:nvPr/>
        </p:nvSpPr>
        <p:spPr>
          <a:xfrm>
            <a:off x="1028700" y="6707514"/>
            <a:ext cx="12230100" cy="60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528990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4BB66-4FC0-4BA5-2442-5A483B27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1843C084-06B2-4FBC-A0A6-E2B4F832A495}"/>
              </a:ext>
            </a:extLst>
          </p:cNvPr>
          <p:cNvGrpSpPr/>
          <p:nvPr/>
        </p:nvGrpSpPr>
        <p:grpSpPr>
          <a:xfrm>
            <a:off x="1028700" y="902811"/>
            <a:ext cx="8496300" cy="1123109"/>
            <a:chOff x="0" y="104775"/>
            <a:chExt cx="5501641" cy="1497478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94DCA29-19A3-A083-075E-83E700C6AB31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4FF187E0-2919-FC47-17C9-BCDE3C0AECB8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Conclusion</a:t>
              </a:r>
            </a:p>
          </p:txBody>
        </p:sp>
      </p:grpSp>
      <p:sp>
        <p:nvSpPr>
          <p:cNvPr id="2" name="TextBox 13">
            <a:extLst>
              <a:ext uri="{FF2B5EF4-FFF2-40B4-BE49-F238E27FC236}">
                <a16:creationId xmlns:a16="http://schemas.microsoft.com/office/drawing/2014/main" id="{58438CA0-37CC-1126-756F-89678D5E5580}"/>
              </a:ext>
            </a:extLst>
          </p:cNvPr>
          <p:cNvSpPr txBox="1"/>
          <p:nvPr/>
        </p:nvSpPr>
        <p:spPr>
          <a:xfrm>
            <a:off x="1028700" y="2413193"/>
            <a:ext cx="12230100" cy="6350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Contribution to Knowledge:</a:t>
            </a:r>
          </a:p>
          <a:p>
            <a:pPr algn="l">
              <a:lnSpc>
                <a:spcPts val="5040"/>
              </a:lnSpc>
            </a:pPr>
            <a:endParaRPr lang="en-US" sz="36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71500" indent="-571500" algn="l">
              <a:lnSpc>
                <a:spcPts val="5040"/>
              </a:lnSpc>
              <a:buFont typeface="Wingdings" pitchFamily="2" charset="2"/>
              <a:buChar char="ü"/>
            </a:pPr>
            <a:r>
              <a:rPr lang="en-US" sz="28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Native Image readiness can be investigated through structural dependency evidence.</a:t>
            </a:r>
          </a:p>
          <a:p>
            <a:pPr marL="571500" indent="-571500" algn="l">
              <a:lnSpc>
                <a:spcPts val="5040"/>
              </a:lnSpc>
              <a:buFont typeface="Wingdings" pitchFamily="2" charset="2"/>
              <a:buChar char="ü"/>
            </a:pPr>
            <a:endParaRPr lang="en-US" sz="28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71500" indent="-571500" algn="l">
              <a:lnSpc>
                <a:spcPts val="5040"/>
              </a:lnSpc>
              <a:buFont typeface="Wingdings" pitchFamily="2" charset="2"/>
              <a:buChar char="ü"/>
            </a:pPr>
            <a:r>
              <a:rPr lang="en-US" sz="28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Software Composition Analysis concepts can support Native Image adoption beyond their traditional security-focused role.</a:t>
            </a:r>
          </a:p>
          <a:p>
            <a:pPr marL="571500" indent="-571500" algn="l">
              <a:lnSpc>
                <a:spcPts val="5040"/>
              </a:lnSpc>
              <a:buFont typeface="Wingdings" pitchFamily="2" charset="2"/>
              <a:buChar char="ü"/>
            </a:pPr>
            <a:endParaRPr lang="en-US" sz="2800" spc="-144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71500" indent="-571500" algn="l">
              <a:lnSpc>
                <a:spcPts val="5040"/>
              </a:lnSpc>
              <a:buFont typeface="Wingdings" pitchFamily="2" charset="2"/>
              <a:buChar char="ü"/>
            </a:pPr>
            <a:r>
              <a:rPr lang="en-US" sz="2800" spc="-144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Evidence-based readiness assessment provides an earlier perspective that complements native compilation rather than predicting it.</a:t>
            </a:r>
          </a:p>
        </p:txBody>
      </p:sp>
    </p:spTree>
    <p:extLst>
      <p:ext uri="{BB962C8B-B14F-4D97-AF65-F5344CB8AC3E}">
        <p14:creationId xmlns:p14="http://schemas.microsoft.com/office/powerpoint/2010/main" val="1328739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58C9C-4C35-849D-056F-180AB1D7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A63A01BB-EB0B-4F8C-15C7-039C429CCD87}"/>
              </a:ext>
            </a:extLst>
          </p:cNvPr>
          <p:cNvGrpSpPr/>
          <p:nvPr/>
        </p:nvGrpSpPr>
        <p:grpSpPr>
          <a:xfrm>
            <a:off x="1028700" y="902811"/>
            <a:ext cx="8496300" cy="1123109"/>
            <a:chOff x="0" y="104775"/>
            <a:chExt cx="5501641" cy="1497478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F0DE1416-A2F4-FFE5-BE13-25F82FFB01B9}"/>
                </a:ext>
              </a:extLst>
            </p:cNvPr>
            <p:cNvSpPr/>
            <p:nvPr/>
          </p:nvSpPr>
          <p:spPr>
            <a:xfrm>
              <a:off x="0" y="1602253"/>
              <a:ext cx="1056177" cy="0"/>
            </a:xfrm>
            <a:prstGeom prst="line">
              <a:avLst/>
            </a:prstGeom>
            <a:ln w="50800" cap="rnd">
              <a:solidFill>
                <a:srgbClr val="C07A3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435AF773-03C3-AFDE-DE23-13F63C8FCB51}"/>
                </a:ext>
              </a:extLst>
            </p:cNvPr>
            <p:cNvSpPr txBox="1"/>
            <p:nvPr/>
          </p:nvSpPr>
          <p:spPr>
            <a:xfrm>
              <a:off x="0" y="104775"/>
              <a:ext cx="5501641" cy="98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 dirty="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Additional References</a:t>
              </a:r>
            </a:p>
          </p:txBody>
        </p:sp>
      </p:grpSp>
      <p:sp>
        <p:nvSpPr>
          <p:cNvPr id="2" name="TextBox 14">
            <a:extLst>
              <a:ext uri="{FF2B5EF4-FFF2-40B4-BE49-F238E27FC236}">
                <a16:creationId xmlns:a16="http://schemas.microsoft.com/office/drawing/2014/main" id="{D3927D49-A0E7-CDB4-F278-A2158CB53C79}"/>
              </a:ext>
            </a:extLst>
          </p:cNvPr>
          <p:cNvSpPr txBox="1"/>
          <p:nvPr/>
        </p:nvSpPr>
        <p:spPr>
          <a:xfrm>
            <a:off x="1028700" y="2552700"/>
            <a:ext cx="16878300" cy="7388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Evaldsson, T. and M. Y. </a:t>
            </a:r>
            <a:r>
              <a:rPr lang="en-US" sz="2400" spc="-48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Bardakani</a:t>
            </a: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(2024). ‘</a:t>
            </a:r>
            <a:r>
              <a:rPr lang="en-US" sz="2400" spc="-48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GraalVM’s</a:t>
            </a: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Ahead-of-Time Compilation: Benefits and Challenges in Production’. Bachelor’s thesis. Karlskrona, Sweden: Department of Software Engineering, Blekinge Institute of Technology. </a:t>
            </a:r>
            <a:r>
              <a:rPr lang="en-US" sz="2400" spc="-48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DiVA</a:t>
            </a: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id: diva2:1875531. In cooperation with Ericsson.</a:t>
            </a:r>
          </a:p>
          <a:p>
            <a:pPr marL="342900" indent="-342900">
              <a:lnSpc>
                <a:spcPts val="3359"/>
              </a:lnSpc>
              <a:buFontTx/>
              <a:buChar char="-"/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42900" indent="-342900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Harrand, N. et al. (2022). ‘API beauty is in the eye of the clients: 2.2 million Maven dependencies reveal the spectrum of client-API usages’. In: Journal of Systems and Software 184. </a:t>
            </a:r>
            <a:r>
              <a:rPr lang="en-US" sz="2400" spc="-48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doi</a:t>
            </a: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10.1016/j.jss.2021.111134. SJR: 0.950; Quartile: Q1; H-index: 141.</a:t>
            </a:r>
          </a:p>
          <a:p>
            <a:pPr marL="342900" indent="-342900">
              <a:lnSpc>
                <a:spcPts val="3359"/>
              </a:lnSpc>
              <a:buFontTx/>
              <a:buChar char="-"/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42900" indent="-342900">
              <a:lnSpc>
                <a:spcPts val="3359"/>
              </a:lnSpc>
              <a:buFontTx/>
              <a:buChar char="-"/>
            </a:pPr>
            <a:r>
              <a:rPr lang="en-US" sz="2400" spc="-48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Massacci</a:t>
            </a: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F. and I. </a:t>
            </a:r>
            <a:r>
              <a:rPr lang="en-US" sz="2400" spc="-48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Pashchenko</a:t>
            </a: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(2021). ‘Technical leverage: Dependencies are a mixed blessing’. In: IEEE Security &amp; Privacy 19(3), pp. 58–62. </a:t>
            </a:r>
            <a:r>
              <a:rPr lang="en-US" sz="2400" spc="-48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doi</a:t>
            </a: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10.1109/MSEC.2021.3065627. SJR: 0.643; Quartile: Q1;H-index: 95.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Nicho, M., I. Effiong and C. D. McDermott (2025). ‘Shift-left security: Integrating security in the initial phase of the DevOps methodology’. In: Proceedings of the 2025 9th International Conference on Cryptography, Security and Privacy (CSP). Okinawa, Japan: IEEE, pp. 182–191. </a:t>
            </a:r>
            <a:r>
              <a:rPr lang="en-US" sz="2400" spc="-48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doi</a:t>
            </a: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10.1109/CSP66295.2025.00037. Google Scholar citations: 1.</a:t>
            </a: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endParaRPr lang="en-US" sz="2400" spc="-4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42900" indent="-342900" algn="l">
              <a:lnSpc>
                <a:spcPts val="3359"/>
              </a:lnSpc>
              <a:buFontTx/>
              <a:buChar char="-"/>
            </a:pP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Pichler, C. et al. (2025). ‘Fast and compact: Reducing size of AOT-compiled Java code without sacrificing performance’. In: ACM SIGPLAN International Conference on Managed Programming Languages and Runtimes (MPLR). Singapore, 12-18 October 2025, pp. 12–22. </a:t>
            </a:r>
            <a:r>
              <a:rPr lang="en-US" sz="2400" spc="-48" dirty="0" err="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doi</a:t>
            </a:r>
            <a:r>
              <a:rPr lang="en-US" sz="2400" spc="-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10.1145/3759426.3760976. Google Scholar citations: 1.</a:t>
            </a:r>
          </a:p>
        </p:txBody>
      </p:sp>
    </p:spTree>
    <p:extLst>
      <p:ext uri="{BB962C8B-B14F-4D97-AF65-F5344CB8AC3E}">
        <p14:creationId xmlns:p14="http://schemas.microsoft.com/office/powerpoint/2010/main" val="3292882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25901-5579-0753-8568-CA148B81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902D63A-EA84-4A08-7624-D70ABF15F463}"/>
              </a:ext>
            </a:extLst>
          </p:cNvPr>
          <p:cNvSpPr txBox="1"/>
          <p:nvPr/>
        </p:nvSpPr>
        <p:spPr>
          <a:xfrm>
            <a:off x="5086350" y="1698388"/>
            <a:ext cx="8115300" cy="305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i="1" spc="-1200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7217877-2FA8-A88D-EFCA-62C0BC5816EE}"/>
              </a:ext>
            </a:extLst>
          </p:cNvPr>
          <p:cNvSpPr txBox="1"/>
          <p:nvPr/>
        </p:nvSpPr>
        <p:spPr>
          <a:xfrm>
            <a:off x="7080885" y="7305681"/>
            <a:ext cx="4126231" cy="73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spc="-336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Sérgio Oliveira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DD2C775-2758-7F3C-F3A5-44C49E46FA9A}"/>
              </a:ext>
            </a:extLst>
          </p:cNvPr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w="38100" cap="rnd">
            <a:solidFill>
              <a:srgbClr val="C07A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7687865-3DAB-2E72-674F-7167D5016CAE}"/>
              </a:ext>
            </a:extLst>
          </p:cNvPr>
          <p:cNvSpPr txBox="1"/>
          <p:nvPr/>
        </p:nvSpPr>
        <p:spPr>
          <a:xfrm>
            <a:off x="5086350" y="3952638"/>
            <a:ext cx="8115300" cy="186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 spc="-8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End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4C8255C-6600-8B5F-2ECB-502E538C06C0}"/>
              </a:ext>
            </a:extLst>
          </p:cNvPr>
          <p:cNvSpPr txBox="1"/>
          <p:nvPr/>
        </p:nvSpPr>
        <p:spPr>
          <a:xfrm>
            <a:off x="3023372" y="8260952"/>
            <a:ext cx="12241257" cy="315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spc="4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BEng Manufacturing | MSc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708405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2796</TotalTime>
  <Words>818</Words>
  <Application>Microsoft Macintosh PowerPoint</Application>
  <PresentationFormat>Custom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Arial</vt:lpstr>
      <vt:lpstr>Wingdings</vt:lpstr>
      <vt:lpstr>Helvetica World Bold</vt:lpstr>
      <vt:lpstr>Times New Roman MT Condensed Italics</vt:lpstr>
      <vt:lpstr>Helvetica World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Almost White and Black Simple Professional Personal Portfolio Presentation</dc:title>
  <cp:lastModifiedBy>Sergio Vinicio Da Silva Oliveira</cp:lastModifiedBy>
  <cp:revision>41</cp:revision>
  <dcterms:created xsi:type="dcterms:W3CDTF">2006-08-16T00:00:00Z</dcterms:created>
  <dcterms:modified xsi:type="dcterms:W3CDTF">2026-07-31T09:55:50Z</dcterms:modified>
  <dc:identifier>DAHQkBIoGOM</dc:identifier>
</cp:coreProperties>
</file>